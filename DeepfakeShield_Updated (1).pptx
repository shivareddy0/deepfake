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90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Shivareddy0/Deepfak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vareddy0/Deepfak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0A8A8A">
              <a:alpha val="12000"/>
            </a:srgbClr>
          </a:solidFill>
          <a:ln w="12700">
            <a:solidFill>
              <a:srgbClr val="0A8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3840480" cy="3840480"/>
          </a:xfrm>
          <a:prstGeom prst="ellipse">
            <a:avLst/>
          </a:prstGeom>
          <a:solidFill>
            <a:srgbClr val="00C8C8">
              <a:alpha val="8000"/>
            </a:srgbClr>
          </a:solidFill>
          <a:ln w="12700">
            <a:solidFill>
              <a:srgbClr val="00C8C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Aether Shield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Deepfake Detection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Forensics + C2PA Provenance Ledger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6576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 Reddy  ·  June 18, 2026</a:t>
            </a:r>
            <a:endParaRPr lang="en-US" sz="1300" dirty="0"/>
          </a:p>
        </p:txBody>
      </p:sp>
      <p:sp>
        <p:nvSpPr>
          <p:cNvPr id="11" name="Text 8">
            <a:hlinkClick r:id="rId4"/>
          </p:cNvPr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0A8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github.com/Shivareddy0/Deepfake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BA7C8F-9AB4-1D6E-240A-E46953D4E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963" y="2972"/>
            <a:ext cx="3326317" cy="1842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92608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Generative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1554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GANs, diffusion models &amp; TTS now produce hyper-realistic synthetic media at scale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1704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28032" y="1554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fraud, misinformation campaigns &amp; erosion of enterprise trust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9923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Fail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0352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Single-model, high latency, vulnerable to adversarial attacks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9923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28032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production-grade multi-modal detection with provenance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Architecture</a:t>
            </a:r>
            <a:endParaRPr lang="en-US" sz="3000" dirty="0"/>
          </a:p>
        </p:txBody>
      </p:sp>
      <p:pic>
        <p:nvPicPr>
          <p:cNvPr id="33" name="Work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77570"/>
            <a:ext cx="3382434" cy="4029076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31" name="Text 29"/>
          <p:cNvSpPr/>
          <p:nvPr/>
        </p:nvSpPr>
        <p:spPr>
          <a:xfrm>
            <a:off x="4114800" y="87757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1234440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pipeline: upload, validation, hash cache, then tiered detection through Bayesian fusion to final report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Multi-tiered routing (T1→T2→T3) skips heavy models for obvious results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ensemble fusion with Monte Carlo weight sampling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forensic modalities: freq, spatial, temporal, audio, metadata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sub-second latency with &gt;90% AUC-ROC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92608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14322" y="1044365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1475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57818" y="1207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574342" y="1659636"/>
            <a:ext cx="2377440" cy="27432"/>
          </a:xfrm>
          <a:prstGeom prst="rect">
            <a:avLst/>
          </a:prstGeom>
          <a:solidFill>
            <a:srgbClr val="0A8A8A">
              <a:alpha val="60000"/>
            </a:srgbClr>
          </a:solidFill>
          <a:ln w="12700">
            <a:solidFill>
              <a:srgbClr val="0A8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74342" y="1720046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(CNN models)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(spatial ops)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(audio)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(SVM)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73851" y="938384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84" y="1131083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73952" y="1131083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38443" y="1655364"/>
            <a:ext cx="2377440" cy="27432"/>
          </a:xfrm>
          <a:prstGeom prst="rect">
            <a:avLst/>
          </a:prstGeom>
          <a:solidFill>
            <a:srgbClr val="0A8A8A">
              <a:alpha val="60000"/>
            </a:srgbClr>
          </a:solidFill>
          <a:ln w="12700">
            <a:solidFill>
              <a:srgbClr val="0A8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838443" y="1740733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overlays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spectrograms viewer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583680" y="1207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 flipH="1" flipV="1">
            <a:off x="8531351" y="4663439"/>
            <a:ext cx="45719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Forensic Detectors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310896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57200" cy="457200"/>
          </a:xfrm>
          <a:prstGeom prst="ellipse">
            <a:avLst/>
          </a:prstGeom>
          <a:solidFill>
            <a:srgbClr val="0A8A8A">
              <a:alpha val="80000"/>
            </a:srgbClr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+ One-Class SVM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GAN/diffusion artifacts in PSD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1170432"/>
            <a:ext cx="457200" cy="457200"/>
          </a:xfrm>
          <a:prstGeom prst="ellipse">
            <a:avLst/>
          </a:prstGeom>
          <a:solidFill>
            <a:srgbClr val="0A8A8A">
              <a:alpha val="80000"/>
            </a:srgbClr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1363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CNN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MiniEfficientNet / ConvNeXt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pixel heatmaps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09360" y="1170432"/>
            <a:ext cx="457200" cy="457200"/>
          </a:xfrm>
          <a:prstGeom prst="ellipse">
            <a:avLst/>
          </a:prstGeom>
          <a:solidFill>
            <a:srgbClr val="0A8A8A">
              <a:alpha val="80000"/>
            </a:srgbClr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971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Coherence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EAR, optical flow variance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embedding drift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457200" cy="457200"/>
          </a:xfrm>
          <a:prstGeom prst="ellipse">
            <a:avLst/>
          </a:prstGeom>
          <a:solidFill>
            <a:srgbClr val="0A8A8A">
              <a:alpha val="80000"/>
            </a:srgbClr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703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LPC formants, nPVI cadence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Mel-ResNet18 classifier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83280" y="3182112"/>
            <a:ext cx="457200" cy="457200"/>
          </a:xfrm>
          <a:prstGeom prst="ellipse">
            <a:avLst/>
          </a:prstGeom>
          <a:solidFill>
            <a:srgbClr val="0A8A8A">
              <a:alpha val="80000"/>
            </a:srgbClr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832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13632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C2PA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10712" y="3703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EXIF/XMP forensics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C2PA manifest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Frequency Domain Detector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6576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A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9152" y="1572768"/>
            <a:ext cx="54864" cy="16459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A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→ Magnitude Spectrum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2350008"/>
            <a:ext cx="54864" cy="16459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45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Azimuthal PSD Radial Profile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59152" y="3127248"/>
            <a:ext cx="54864" cy="16459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Anomaly 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59152" y="3904488"/>
            <a:ext cx="54864" cy="16459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GENUINE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4630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image to frequency domain using 2D FFT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azimuthal Power Spectral Density (PSD) radial profile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images follow 1/fᵅ statistics — GANs/diffusion models leave upsampling &amp; grid artifacts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trained on real images flags anomalous spectra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low-cost: ideal for Tier 1 routing (no GPU needed)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Spatial CNN Detector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47472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50876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MiniEfficientNet (lightweight, fast) or ConvNeXt (high accuracy)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fine-tuned on FaceForensics++ &amp; DFDC datasets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generates pixel-level attention heatmaps for analysts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sigmoid score = probability of manipulation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37760" y="91440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120640" y="1024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Pipeline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20640" y="14630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12064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 (224×224 RGB)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0" y="2029968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120640" y="212140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120640" y="2121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MiniEfficientNet / ConvNeXt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0" y="2688336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120640" y="277977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120640" y="27797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0" y="3346704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20640" y="343814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120640" y="34381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Heatmap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58000" y="4005072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5120640" y="409651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120640" y="4096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Score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&amp; Audio Detectors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10896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Coherence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(Eye Aspect Ratio)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blink patterns; synthetic faces often blink unnaturally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6517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Variance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0083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inter-frame pixel motion consistency across video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70332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37490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Embedding Drift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059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 distance between frames — real faces are stable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96012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7899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160020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983480" y="16459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LPC Formant VTL Check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8348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Tract Length must match claimed speaker demographics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46320" y="26517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983480" y="26974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nPVI Cadence Analysis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83480" y="30083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Pairwise Variability Index — TTS lacks natural rhythm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46320" y="370332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983480" y="37490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Mel-ResNet18 Classifier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983480" y="4059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Mel-spectrogram CNN trained on ASVspoof &amp; WaveFake datasets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Ensemble Fusion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2004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2A151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 Naive Averaging Fails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scores are correlated — averaging ignores uncertainty and inter-model dependencies, leading to overconfident predictions.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10201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Bayesian Meta-Classifier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weight sampling over detector ensemble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for calibrated probabilities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 quantification via variance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→ 'Requires Human Review' flag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adaptation as new models are deployed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481328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Scores [D1, D2, D3, D4, D5]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3408" y="1975104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Weight Sampling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93408" y="2551176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633472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93408" y="3127248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3209544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3209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3408" y="3703320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3785616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A3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378561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&lt; θ?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3408" y="4279392"/>
            <a:ext cx="54864" cy="9144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4361688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D2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4361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+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Dashboard &amp; User Experience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2004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50000"/>
            <a:ext cx="2620000" cy="1650000"/>
          </a:xfrm>
          <a:prstGeom prst="roundRect">
            <a:avLst>
              <a:gd name="adj" fmla="val 5854"/>
            </a:avLst>
          </a:prstGeom>
          <a:solidFill>
            <a:srgbClr val="14285A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380040" y="990000"/>
            <a:ext cx="250000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📥 Media Upload</a:t>
            </a:r>
          </a:p>
        </p:txBody>
      </p:sp>
      <p:sp>
        <p:nvSpPr>
          <p:cNvPr id="6" name="Text 3"/>
          <p:cNvSpPr/>
          <p:nvPr/>
        </p:nvSpPr>
        <p:spPr>
          <a:xfrm>
            <a:off x="380040" y="1340000"/>
            <a:ext cx="2500000" cy="1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Upload Image / Video / Audio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File preview before analysis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Simple and user-friendly interface</a:t>
            </a:r>
          </a:p>
        </p:txBody>
      </p:sp>
      <p:sp>
        <p:nvSpPr>
          <p:cNvPr id="7" name="Shape 4"/>
          <p:cNvSpPr/>
          <p:nvPr/>
        </p:nvSpPr>
        <p:spPr>
          <a:xfrm>
            <a:off x="3097680" y="950000"/>
            <a:ext cx="2720000" cy="1650000"/>
          </a:xfrm>
          <a:prstGeom prst="roundRect">
            <a:avLst>
              <a:gd name="adj" fmla="val 5854"/>
            </a:avLst>
          </a:prstGeom>
          <a:solidFill>
            <a:srgbClr val="0A3A3A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157680" y="990000"/>
            <a:ext cx="260000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🔎 Detection Process</a:t>
            </a:r>
          </a:p>
        </p:txBody>
      </p:sp>
      <p:sp>
        <p:nvSpPr>
          <p:cNvPr id="9" name="Text 6"/>
          <p:cNvSpPr/>
          <p:nvPr/>
        </p:nvSpPr>
        <p:spPr>
          <a:xfrm>
            <a:off x="3157680" y="1340000"/>
            <a:ext cx="2600000" cy="1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Image → Custom trained model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Video → Frame extraction + pretrained model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Audio → Pretrained audio analysis</a:t>
            </a:r>
          </a:p>
        </p:txBody>
      </p:sp>
      <p:sp>
        <p:nvSpPr>
          <p:cNvPr id="10" name="Shape 7"/>
          <p:cNvSpPr/>
          <p:nvPr/>
        </p:nvSpPr>
        <p:spPr>
          <a:xfrm>
            <a:off x="5969520" y="950000"/>
            <a:ext cx="2716200" cy="1650000"/>
          </a:xfrm>
          <a:prstGeom prst="roundRect">
            <a:avLst>
              <a:gd name="adj" fmla="val 5854"/>
            </a:avLst>
          </a:prstGeom>
          <a:solidFill>
            <a:srgbClr val="2A1A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29520" y="990000"/>
            <a:ext cx="259620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📊 Results Dashboard</a:t>
            </a:r>
          </a:p>
        </p:txBody>
      </p:sp>
      <p:sp>
        <p:nvSpPr>
          <p:cNvPr id="12" name="Text 9"/>
          <p:cNvSpPr/>
          <p:nvPr/>
        </p:nvSpPr>
        <p:spPr>
          <a:xfrm>
            <a:off x="6029520" y="1340000"/>
            <a:ext cx="2596200" cy="1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Real / Fake prediction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Confidence score display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Detection explanation</a:t>
            </a:r>
          </a:p>
          <a:p>
            <a:pPr marL="228600" indent="-2286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</a:rPr>
              <a:t>Processing time display</a:t>
            </a:r>
          </a:p>
        </p:txBody>
      </p:sp>
      <p:sp>
        <p:nvSpPr>
          <p:cNvPr id="13" name="Shape 10"/>
          <p:cNvSpPr/>
          <p:nvPr/>
        </p:nvSpPr>
        <p:spPr>
          <a:xfrm>
            <a:off x="320040" y="2800000"/>
            <a:ext cx="8365680" cy="380000"/>
          </a:xfrm>
          <a:prstGeom prst="roundRect">
            <a:avLst>
              <a:gd name="adj" fmla="val 10000"/>
            </a:avLst>
          </a:prstGeom>
          <a:solidFill>
            <a:srgbClr val="0A3A3A"/>
          </a:solidFill>
          <a:ln w="19050">
            <a:solidFill>
              <a:srgbClr val="0A8A8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040" y="2800000"/>
            <a:ext cx="8365680" cy="380000"/>
          </a:xfrm>
          <a:prstGeom prst="rect">
            <a:avLst/>
          </a:prstGeom>
          <a:noFill/>
          <a:ln/>
        </p:spPr>
        <p:txBody>
          <a:bodyPr wrap="square" lIns="182880" tIns="0" rIns="182880" bIns="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📤  Upload  </a:t>
            </a:r>
            <a:r>
              <a:rPr lang="en-US" sz="1300" b="0" dirty="0">
                <a:solidFill>
                  <a:srgbClr val="FFFFFF"/>
                </a:solidFill>
                <a:latin typeface="Calibri" pitchFamily="34" charset="0"/>
              </a:rPr>
              <a:t>➤  </a:t>
            </a: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Preprocess  </a:t>
            </a:r>
            <a:r>
              <a:rPr lang="en-US" sz="1300" b="0" dirty="0">
                <a:solidFill>
                  <a:srgbClr val="FFFFFF"/>
                </a:solidFill>
                <a:latin typeface="Calibri" pitchFamily="34" charset="0"/>
              </a:rPr>
              <a:t>➤  </a:t>
            </a: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Detection  </a:t>
            </a:r>
            <a:r>
              <a:rPr lang="en-US" sz="1300" b="0" dirty="0">
                <a:solidFill>
                  <a:srgbClr val="FFFFFF"/>
                </a:solidFill>
                <a:latin typeface="Calibri" pitchFamily="34" charset="0"/>
              </a:rPr>
              <a:t>➤  </a:t>
            </a: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✅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How to Run Locally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47472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A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Media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76856" y="1234440"/>
            <a:ext cx="237744" cy="4572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32888" y="96012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A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Tiered Inference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9704" y="1234440"/>
            <a:ext cx="237744" cy="4572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45736" y="96012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A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45736" y="96012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GradCAM + PSD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02552" y="1234440"/>
            <a:ext cx="237744" cy="4572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958584" y="96012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A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58584" y="96012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Ledger Proof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737360"/>
            <a:ext cx="4160520" cy="3154680"/>
          </a:xfrm>
          <a:prstGeom prst="roundRect">
            <a:avLst>
              <a:gd name="adj" fmla="val 2899"/>
            </a:avLst>
          </a:prstGeom>
          <a:solidFill>
            <a:srgbClr val="0A1628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Setup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212848"/>
            <a:ext cx="38404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.\venv\Scripts\Activate.ps1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backend.main:app --reload --port 8000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4160520" cy="3154680"/>
          </a:xfrm>
          <a:prstGeom prst="roundRect">
            <a:avLst>
              <a:gd name="adj" fmla="val 2899"/>
            </a:avLst>
          </a:prstGeom>
          <a:solidFill>
            <a:srgbClr val="0A1628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212848"/>
            <a:ext cx="38404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http://localhost:3000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2004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C1"/>
          <p:cNvSpPr/>
          <p:nvPr/>
        </p:nvSpPr>
        <p:spPr>
          <a:xfrm>
            <a:off x="365760" y="900000"/>
            <a:ext cx="8412480" cy="1180000"/>
          </a:xfrm>
          <a:prstGeom prst="roundRect">
            <a:avLst>
              <a:gd name="adj" fmla="val 4000"/>
            </a:avLst>
          </a:prstGeom>
          <a:solidFill>
            <a:srgbClr val="14285A"/>
          </a:solidFill>
          <a:ln w="12700">
            <a:solidFill>
              <a:srgbClr val="0A8A8A"/>
            </a:solidFill>
          </a:ln>
          <a:effectLst>
            <a:outerShdw blurRad="50800" dist="19050" dir="27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C1"/>
          <p:cNvSpPr/>
          <p:nvPr/>
        </p:nvSpPr>
        <p:spPr>
          <a:xfrm>
            <a:off x="425760" y="920000"/>
            <a:ext cx="8292480" cy="11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</a:rPr>
              <a:t>⚠ Challenge : Heterogeneous Datasets &amp; Class Imbalance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Problem: Training on CIFAKE, FaceForensics++, Celeb-DF, DFDC &amp; DiffusionDB together caused severe class imbalance and instability, since some datasets had millions of frames and others only a few thousand.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</a:rPr>
              <a:t>✔ Solution: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Built a custom PyTorch Weighted Random Sampler that weights samples by dataset density and class label, guaranteeing uniform representation of minor classes and datasets in every training batch.</a:t>
            </a:r>
          </a:p>
        </p:txBody>
      </p:sp>
      <p:sp>
        <p:nvSpPr>
          <p:cNvPr id="6" name="Shape C2"/>
          <p:cNvSpPr/>
          <p:nvPr/>
        </p:nvSpPr>
        <p:spPr>
          <a:xfrm>
            <a:off x="365760" y="2140000"/>
            <a:ext cx="8412480" cy="1180000"/>
          </a:xfrm>
          <a:prstGeom prst="roundRect">
            <a:avLst>
              <a:gd name="adj" fmla="val 4000"/>
            </a:avLst>
          </a:prstGeom>
          <a:solidFill>
            <a:srgbClr val="0A3A3A"/>
          </a:solidFill>
          <a:ln w="12700">
            <a:solidFill>
              <a:srgbClr val="0A8A8A"/>
            </a:solidFill>
          </a:ln>
          <a:effectLst>
            <a:outerShdw blurRad="50800" dist="19050" dir="27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C2"/>
          <p:cNvSpPr/>
          <p:nvPr/>
        </p:nvSpPr>
        <p:spPr>
          <a:xfrm>
            <a:off x="425760" y="2160000"/>
            <a:ext cx="8292480" cy="11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</a:rPr>
              <a:t>⚠ Challenge : CPU/GPU Ingest Bottlenecks &amp; Latency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Problem: Running EfficientNet-B4, Mel-spectrogram ResNet18 &amp; Wav2Vec2 on high-resolution video is resource-intensive, backing up processing queues and blocking real-time execution.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</a:rPr>
              <a:t>✔ Solution: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Built a Multi-Tiered Decision Router — Tier 1 (CPU, &lt;10ms) runs dHash + 2D FFT checks; Tier 2/3 (GPU, &lt;250ms) run CNN/temporal models only on ambiguous or video/audio assets, keeping genuine media sub-second.</a:t>
            </a:r>
          </a:p>
        </p:txBody>
      </p:sp>
      <p:sp>
        <p:nvSpPr>
          <p:cNvPr id="8" name="Shape C3"/>
          <p:cNvSpPr/>
          <p:nvPr/>
        </p:nvSpPr>
        <p:spPr>
          <a:xfrm>
            <a:off x="365760" y="3380000"/>
            <a:ext cx="8412480" cy="1180000"/>
          </a:xfrm>
          <a:prstGeom prst="roundRect">
            <a:avLst>
              <a:gd name="adj" fmla="val 4000"/>
            </a:avLst>
          </a:prstGeom>
          <a:solidFill>
            <a:srgbClr val="2A1A40"/>
          </a:solidFill>
          <a:ln w="12700">
            <a:solidFill>
              <a:srgbClr val="0A8A8A"/>
            </a:solidFill>
          </a:ln>
          <a:effectLst>
            <a:outerShdw blurRad="50800" dist="19050" dir="27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C3"/>
          <p:cNvSpPr/>
          <p:nvPr/>
        </p:nvSpPr>
        <p:spPr>
          <a:xfrm>
            <a:off x="425760" y="3400000"/>
            <a:ext cx="8292480" cy="11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</a:rPr>
              <a:t>⚠ Challenge : Generalizing to Unseen Generation Methods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Problem: Supervised models overfit to dataset-specific signatures and fail on new, unseen generators like Stable Diffusion 3 or VALL-E.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</a:rPr>
              <a:t>✔ Solution: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Built a Bayesian Ensemble Fusion Core blending neural outputs with handcrafted forensics — visual: CNN (80%) + FFT radial power (20%); acoustic: ResNet spectrogram (70%) + formant/nPVI/spectral-flatness cues (30%) — so physical constraints catch what the network misses.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Scope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2004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R1"/>
          <p:cNvSpPr/>
          <p:nvPr/>
        </p:nvSpPr>
        <p:spPr>
          <a:xfrm>
            <a:off x="320040" y="900000"/>
            <a:ext cx="4068960" cy="1600000"/>
          </a:xfrm>
          <a:prstGeom prst="roundRect">
            <a:avLst>
              <a:gd name="adj" fmla="val 5000"/>
            </a:avLst>
          </a:prstGeom>
          <a:solidFill>
            <a:srgbClr val="14285A"/>
          </a:solidFill>
          <a:ln w="12700">
            <a:solidFill>
              <a:srgbClr val="0A8A8A"/>
            </a:solidFill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R1"/>
          <p:cNvSpPr/>
          <p:nvPr/>
        </p:nvSpPr>
        <p:spPr>
          <a:xfrm>
            <a:off x="380040" y="930000"/>
            <a:ext cx="3948960" cy="154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✅ Results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Built a multi-modal deepfake detection platform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Trained and tested image detection model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Achieved practical detection with improved usability</a:t>
            </a:r>
          </a:p>
        </p:txBody>
      </p:sp>
      <p:sp>
        <p:nvSpPr>
          <p:cNvPr id="6" name="Shape R2"/>
          <p:cNvSpPr/>
          <p:nvPr/>
        </p:nvSpPr>
        <p:spPr>
          <a:xfrm>
            <a:off x="320040" y="2560000"/>
            <a:ext cx="4068960" cy="1000000"/>
          </a:xfrm>
          <a:prstGeom prst="roundRect">
            <a:avLst>
              <a:gd name="adj" fmla="val 5000"/>
            </a:avLst>
          </a:prstGeom>
          <a:solidFill>
            <a:srgbClr val="0A3A3A"/>
          </a:solidFill>
          <a:ln w="12700">
            <a:solidFill>
              <a:srgbClr val="0A8A8A"/>
            </a:solidFill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R2"/>
          <p:cNvSpPr/>
          <p:nvPr/>
        </p:nvSpPr>
        <p:spPr>
          <a:xfrm>
            <a:off x="380040" y="2590000"/>
            <a:ext cx="3948960" cy="94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📚 Lessons Learned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Data quality directly affects accuracy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Model optimization improves performance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Pretrained models reduce development time</a:t>
            </a:r>
          </a:p>
        </p:txBody>
      </p:sp>
      <p:sp>
        <p:nvSpPr>
          <p:cNvPr id="8" name="Shape R3"/>
          <p:cNvSpPr/>
          <p:nvPr/>
        </p:nvSpPr>
        <p:spPr>
          <a:xfrm>
            <a:off x="4617720" y="900000"/>
            <a:ext cx="4068960" cy="2660000"/>
          </a:xfrm>
          <a:prstGeom prst="roundRect">
            <a:avLst>
              <a:gd name="adj" fmla="val 5000"/>
            </a:avLst>
          </a:prstGeom>
          <a:solidFill>
            <a:srgbClr val="2A1A40"/>
          </a:solidFill>
          <a:ln w="12700">
            <a:solidFill>
              <a:srgbClr val="0A8A8A"/>
            </a:solidFill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R3"/>
          <p:cNvSpPr/>
          <p:nvPr/>
        </p:nvSpPr>
        <p:spPr>
          <a:xfrm>
            <a:off x="4677720" y="930000"/>
            <a:ext cx="3948960" cy="260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</a:rPr>
              <a:t>🚀 Future Scope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Improve image accuracy with larger datasets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Add real-time webcam detection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Support live video stream analysis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Deploy on cloud for scalability</a:t>
            </a:r>
          </a:p>
          <a:p>
            <a:pPr marL="228600" indent="-228600"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Enhance UI and reporting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A8A8A">
              <a:alpha val="10000"/>
            </a:srgbClr>
          </a:solidFill>
          <a:ln w="12700">
            <a:solidFill>
              <a:srgbClr val="0A8A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00C8C8">
              <a:alpha val="8000"/>
            </a:srgbClr>
          </a:solidFill>
          <a:ln w="12700">
            <a:solidFill>
              <a:srgbClr val="00C8C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Shield — Keeping Digital Media Authentic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0A8A8A"/>
          </a:solidFill>
          <a:ln w="12700">
            <a:solidFill>
              <a:srgbClr val="0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 Reddy</a:t>
            </a:r>
            <a:endParaRPr lang="en-US" sz="18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A8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github.com/Shivareddy0/Deepfake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8600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1064</Words>
  <Application>Microsoft Office PowerPoint</Application>
  <PresentationFormat>On-screen Show (16:9)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Shield</dc:title>
  <dc:subject>PptxGenJS Presentation</dc:subject>
  <dc:creator>Shiva Reddy</dc:creator>
  <cp:lastModifiedBy>kavya devara</cp:lastModifiedBy>
  <cp:revision>12</cp:revision>
  <dcterms:created xsi:type="dcterms:W3CDTF">2026-06-18T18:12:17Z</dcterms:created>
  <dcterms:modified xsi:type="dcterms:W3CDTF">2026-06-19T09:52:12Z</dcterms:modified>
</cp:coreProperties>
</file>